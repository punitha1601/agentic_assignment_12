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Space Grotesk"/>
      <ns0:bold ns1:id="rIdFont12"/>
    </ns0:embeddedFont>
    <ns0:embeddedFont>
      <ns0:font typeface="Inter"/>
      <ns0:bold ns1:id="rIdFont13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f1b4ca5f-580d-43b2-9dec-c6f407fc4516.fntdata" /><ns0:Relationship Id="rIdFont13" Type="http://schemas.openxmlformats.org/officeDocument/2006/relationships/font" Target="fonts/7b83e1e2-0745-46ad-93f6-c32909565563.fntdata" /><ns0:Relationship Id="rIdFont14" Type="http://schemas.openxmlformats.org/officeDocument/2006/relationships/font" Target="fonts/6e15a795-0869-4ea9-90e8-971c296976c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089028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30871"/>
            <a:ext cx="952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82F6"/>
                </a:solidFill>
                <a:latin typeface="Space Grotesk"/>
              </a:rPr>
              <a:t>MACHINE LEARNING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178546"/>
            <a:ext cx="8101012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Space Grotesk"/>
              </a:rPr>
              <a:t>Artificial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991867"/>
            <a:ext cx="58102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A1A1AA"/>
                </a:solidFill>
                <a:latin typeface="Inter"/>
              </a:rPr>
              <a:t>Emulating biological cognition to solve complex, non-linear computational problems.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237" y="0"/>
            <a:ext cx="5338762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381" y="1524000"/>
            <a:ext cx="3810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070770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832770"/>
            <a:ext cx="2857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94770"/>
            <a:ext cx="1714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834455"/>
            <a:ext cx="666154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CORE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158305"/>
            <a:ext cx="6994624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Biological Inspiration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42195"/>
            <a:ext cx="5043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Biomimicry: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Modeled after the 100 billion neurons in the human brain.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804195"/>
            <a:ext cx="49863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Interconnectivity: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Artificial nodes communicate via weighted synapses.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4566195"/>
            <a:ext cx="51006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Activation: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Nodes fire only when inputs exceed specific mathematical thresholds.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76550"/>
            <a:ext cx="3346400" cy="2486025"/>
          </a:xfrm>
          <a:prstGeom prst="roundRect">
            <a:avLst>
              <a:gd name="adj" fmla="val 45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3200" y="2752725"/>
            <a:ext cx="3365450" cy="2733675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83450" y="2762250"/>
            <a:ext cx="3346400" cy="2714625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325" y="3267075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051" y="3152775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776" y="3152775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0825" y="3457575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7263" y="3343275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2276" y="3343275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285750" y="762000"/>
            <a:ext cx="12763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Space Grotesk"/>
              </a:rPr>
              <a:t>STRUCTURAL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85750" y="104775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The Three Pillars of ANN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76" y="4105275"/>
            <a:ext cx="356704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Input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6" y="4514850"/>
            <a:ext cx="33971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Receives raw external data without processing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2401" y="3990975"/>
            <a:ext cx="356704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Hidden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7331" y="4400550"/>
            <a:ext cx="33971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The \"black box\" where computational learning and feature extraction occur.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127" y="3990975"/>
            <a:ext cx="356704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Output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8056" y="4400550"/>
            <a:ext cx="33971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Generates final predictions or classifications based on hidden layer signals.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2552700"/>
            <a:ext cx="4953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2552700"/>
            <a:ext cx="4953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NETWORK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4775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Specialized Neural Architectures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143125"/>
            <a:ext cx="530066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3A8A"/>
                </a:solidFill>
                <a:latin typeface="Space Grotesk"/>
              </a:rPr>
              <a:t>CNN (Convolutional)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2143125"/>
            <a:ext cx="530066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3A8A"/>
                </a:solidFill>
                <a:latin typeface="Space Grotesk"/>
              </a:rPr>
              <a:t>RNN (Recurrent)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800350"/>
            <a:ext cx="619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Primary Use: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Visual data and imagery.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190875"/>
            <a:ext cx="5048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Mechanism: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Applies spatial filters to detect edges and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781425"/>
            <a:ext cx="619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Application: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Facial recognition, medical MRI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280035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Primary Use: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Sequential and temporal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190875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Mechanism: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Internal memory loops retain past inputs.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358140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Application: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Speech recognition, stock market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145059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26753" y="2907059"/>
            <a:ext cx="7938492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Space Grotesk"/>
              </a:rPr>
              <a:t>The backbone of modern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8812" y="3684240"/>
            <a:ext cx="833437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By automating feature extraction and handling non-linear data, ANNs enable systems to learn from experience without explicit reprogramming.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